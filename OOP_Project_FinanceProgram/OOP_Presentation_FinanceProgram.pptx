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oppins Bold" charset="1" panose="00000800000000000000"/>
      <p:regular r:id="rId23"/>
    </p:embeddedFont>
    <p:embeddedFont>
      <p:font typeface="Fira Code" charset="1" panose="020B0809050000020004"/>
      <p:regular r:id="rId24"/>
    </p:embeddedFont>
    <p:embeddedFont>
      <p:font typeface="Consolas Bold" charset="1" panose="020B0709020204030204"/>
      <p:regular r:id="rId25"/>
    </p:embeddedFont>
    <p:embeddedFont>
      <p:font typeface="Poppins Italics" charset="1" panose="00000500000000000000"/>
      <p:regular r:id="rId26"/>
    </p:embeddedFont>
    <p:embeddedFont>
      <p:font typeface="Fira Code Bold" charset="1" panose="020B0809050000020004"/>
      <p:regular r:id="rId27"/>
    </p:embeddedFont>
    <p:embeddedFont>
      <p:font typeface="Consolas" charset="1" panose="020B0609020204030204"/>
      <p:regular r:id="rId28"/>
    </p:embeddedFont>
    <p:embeddedFont>
      <p:font typeface="Poppins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68117" y="2634021"/>
            <a:ext cx="8449033" cy="187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  <a:spcBef>
                <a:spcPct val="0"/>
              </a:spcBef>
            </a:pPr>
            <a:r>
              <a:rPr lang="en-US" b="true" sz="10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Finance App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45338" y="6200877"/>
            <a:ext cx="4929902" cy="210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859" spc="26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U2510076, Kim Maxim </a:t>
            </a:r>
          </a:p>
          <a:p>
            <a:pPr algn="l">
              <a:lnSpc>
                <a:spcPts val="2789"/>
              </a:lnSpc>
            </a:pPr>
            <a:r>
              <a:rPr lang="en-US" sz="1859" spc="26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U2510080, Abdulqayumov Abdukarim  </a:t>
            </a:r>
          </a:p>
          <a:p>
            <a:pPr algn="l">
              <a:lnSpc>
                <a:spcPts val="2789"/>
              </a:lnSpc>
            </a:pPr>
            <a:r>
              <a:rPr lang="en-US" sz="1859" spc="26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U2510087, Irgashev Akmal </a:t>
            </a:r>
          </a:p>
          <a:p>
            <a:pPr algn="l">
              <a:lnSpc>
                <a:spcPts val="2789"/>
              </a:lnSpc>
            </a:pPr>
            <a:r>
              <a:rPr lang="en-US" sz="1859" spc="26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U2510093, Fayzuraxmanov Shahriyor </a:t>
            </a:r>
          </a:p>
          <a:p>
            <a:pPr algn="l">
              <a:lnSpc>
                <a:spcPts val="2789"/>
              </a:lnSpc>
            </a:pPr>
            <a:r>
              <a:rPr lang="en-US" sz="1859" spc="26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U2510096, Ibragimov Farrux </a:t>
            </a:r>
          </a:p>
          <a:p>
            <a:pPr algn="l">
              <a:lnSpc>
                <a:spcPts val="2789"/>
              </a:lnSpc>
            </a:pPr>
            <a:r>
              <a:rPr lang="en-US" sz="1859" spc="26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U2510097, Raxmonov Sanjar </a:t>
            </a:r>
          </a:p>
        </p:txBody>
      </p:sp>
      <p:sp>
        <p:nvSpPr>
          <p:cNvPr name="AutoShape 28" id="28"/>
          <p:cNvSpPr/>
          <p:nvPr/>
        </p:nvSpPr>
        <p:spPr>
          <a:xfrm flipH="true" flipV="true">
            <a:off x="1862341" y="6432184"/>
            <a:ext cx="0" cy="1695372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224720" y="2355785"/>
            <a:ext cx="9200794" cy="6447542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008455" y="5588837"/>
            <a:ext cx="1815346" cy="49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 u="sng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Section: 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40663" y="4427261"/>
            <a:ext cx="3903940" cy="50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(Console application)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24720" y="2355785"/>
            <a:ext cx="9200794" cy="6447542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DE5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753126" y="3640455"/>
            <a:ext cx="7390874" cy="352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DE59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Objective:</a:t>
            </a:r>
            <a:r>
              <a:rPr lang="en-US" b="true" sz="3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Our team wants to create an app which will organize user’s </a:t>
            </a:r>
            <a:r>
              <a:rPr lang="en-US" b="true" sz="2400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incomes </a:t>
            </a:r>
            <a:r>
              <a:rPr lang="en-US" sz="24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and </a:t>
            </a:r>
            <a:r>
              <a:rPr lang="en-US" b="true" sz="2400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expenses.</a:t>
            </a:r>
            <a:r>
              <a:rPr lang="en-US" sz="24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This app is mostly targeted on investors and people who work with finances. It will make the picture of their earning </a:t>
            </a:r>
            <a:r>
              <a:rPr lang="en-US" b="true" sz="2400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clear and understandable.</a:t>
            </a:r>
            <a:r>
              <a:rPr lang="en-US" sz="24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BF6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1581868" y="1785964"/>
            <a:ext cx="5886968" cy="8501036"/>
          </a:xfrm>
          <a:custGeom>
            <a:avLst/>
            <a:gdLst/>
            <a:ahLst/>
            <a:cxnLst/>
            <a:rect r="r" b="b" t="t" l="l"/>
            <a:pathLst>
              <a:path h="8501036" w="5886968">
                <a:moveTo>
                  <a:pt x="0" y="0"/>
                </a:moveTo>
                <a:lnTo>
                  <a:pt x="5886967" y="0"/>
                </a:lnTo>
                <a:lnTo>
                  <a:pt x="5886967" y="8501036"/>
                </a:lnTo>
                <a:lnTo>
                  <a:pt x="0" y="8501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2291281"/>
            <a:ext cx="1016508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UML Diagram and Classes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2322" y="3628071"/>
            <a:ext cx="8369618" cy="451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User → AppController:</a:t>
            </a:r>
          </a:p>
          <a:p>
            <a:pPr algn="l" marL="453388" indent="-226694" lvl="1">
              <a:lnSpc>
                <a:spcPts val="419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AppController holds a </a:t>
            </a:r>
            <a:r>
              <a:rPr lang="en-US" b="true" sz="2099">
                <a:solidFill>
                  <a:srgbClr val="FF3131"/>
                </a:solidFill>
                <a:latin typeface="Consolas Bold"/>
                <a:ea typeface="Consolas Bold"/>
                <a:cs typeface="Consolas Bold"/>
                <a:sym typeface="Consolas Bold"/>
              </a:rPr>
              <a:t>User*</a:t>
            </a:r>
            <a:r>
              <a:rPr lang="en-US" sz="2099">
                <a:solidFill>
                  <a:srgbClr val="FF313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currentUser pointer</a:t>
            </a: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Composition:</a:t>
            </a:r>
          </a:p>
          <a:p>
            <a:pPr algn="l" marL="453388" indent="-226694" lvl="1">
              <a:lnSpc>
                <a:spcPts val="419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AppController owns a </a:t>
            </a:r>
            <a:r>
              <a:rPr lang="en-US" b="true" sz="2099">
                <a:solidFill>
                  <a:srgbClr val="FF751F"/>
                </a:solidFill>
                <a:latin typeface="Consolas Bold"/>
                <a:ea typeface="Consolas Bold"/>
                <a:cs typeface="Consolas Bold"/>
                <a:sym typeface="Consolas Bold"/>
              </a:rPr>
              <a:t>vector&lt;Card&gt;</a:t>
            </a: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userCards</a:t>
            </a: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Transaction Hierarchy:</a:t>
            </a:r>
          </a:p>
          <a:p>
            <a:pPr algn="l" marL="453388" indent="-226694" lvl="1">
              <a:lnSpc>
                <a:spcPts val="419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Income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Expense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inherit from base </a:t>
            </a: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Transaction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class</a:t>
            </a:r>
          </a:p>
          <a:p>
            <a:pPr algn="l">
              <a:lnSpc>
                <a:spcPts val="4799"/>
              </a:lnSpc>
            </a:pP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Polymorphic Container:</a:t>
            </a:r>
          </a:p>
          <a:p>
            <a:pPr algn="l" marL="453388" indent="-226694" lvl="1">
              <a:lnSpc>
                <a:spcPts val="419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History tracked via </a:t>
            </a:r>
            <a:r>
              <a:rPr lang="en-US" b="true" sz="2099">
                <a:solidFill>
                  <a:srgbClr val="00BF63"/>
                </a:solidFill>
                <a:latin typeface="Consolas Bold"/>
                <a:ea typeface="Consolas Bold"/>
                <a:cs typeface="Consolas Bold"/>
                <a:sym typeface="Consolas Bold"/>
              </a:rPr>
              <a:t>vector&lt;Transaction*&gt; history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BF6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542110" y="2291281"/>
            <a:ext cx="513826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structs?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06846" y="2462113"/>
            <a:ext cx="9200794" cy="6447542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028700" y="4033843"/>
            <a:ext cx="9172660" cy="296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dynamic data from the</a:t>
            </a: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User</a:t>
            </a:r>
            <a:r>
              <a:rPr lang="en-US" sz="23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object is copied into the </a:t>
            </a: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userBinary struct</a:t>
            </a:r>
            <a:r>
              <a:rPr lang="en-US" sz="23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(converting standard strings into static </a:t>
            </a: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char arrays</a:t>
            </a:r>
            <a:r>
              <a:rPr lang="en-US" sz="23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</a:p>
          <a:p>
            <a:pPr algn="l">
              <a:lnSpc>
                <a:spcPts val="3359"/>
              </a:lnSpc>
            </a:pP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entire </a:t>
            </a: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userBinary structure block</a:t>
            </a:r>
            <a:r>
              <a:rPr lang="en-US" sz="23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is dumped directly into the file as a single block of raw bytes using </a:t>
            </a:r>
            <a:r>
              <a:rPr lang="en-US" b="true" sz="2399">
                <a:solidFill>
                  <a:srgbClr val="1800AD"/>
                </a:solidFill>
                <a:latin typeface="Consolas Bold"/>
                <a:ea typeface="Consolas Bold"/>
                <a:cs typeface="Consolas Bold"/>
                <a:sym typeface="Consolas Bold"/>
              </a:rPr>
              <a:t>reinterpret_cast&lt;char*&gt;.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06846" y="2462113"/>
            <a:ext cx="9200794" cy="6447542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617952" y="2291281"/>
            <a:ext cx="498657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Admin Panel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4200" y="3419766"/>
            <a:ext cx="9429379" cy="501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Super Admin 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Static Logic: 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Credential (email: </a:t>
            </a:r>
            <a:r>
              <a:rPr lang="en-US" b="true" sz="2099">
                <a:solidFill>
                  <a:srgbClr val="FF751F"/>
                </a:solidFill>
                <a:latin typeface="Consolas Bold"/>
                <a:ea typeface="Consolas Bold"/>
                <a:cs typeface="Consolas Bold"/>
                <a:sym typeface="Consolas Bold"/>
              </a:rPr>
              <a:t>"admin@gmail.com"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is written directly into the source code logic, not loaded from storage.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 System Administrators 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File-Driven: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Loaded dynamically from the encrypted binary registry (</a:t>
            </a:r>
            <a:r>
              <a:rPr lang="en-US" b="true" sz="2099">
                <a:solidFill>
                  <a:srgbClr val="00BF63"/>
                </a:solidFill>
                <a:latin typeface="Consolas Bold"/>
                <a:ea typeface="Consolas Bold"/>
                <a:cs typeface="Consolas Bold"/>
                <a:sym typeface="Consolas Bold"/>
              </a:rPr>
              <a:t>admins.dat / users.dat</a:t>
            </a: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with </a:t>
            </a: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role: 1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Authentication (</a:t>
            </a:r>
            <a:r>
              <a:rPr lang="en-US" b="true" sz="2399">
                <a:solidFill>
                  <a:srgbClr val="FFDE59"/>
                </a:solidFill>
                <a:latin typeface="Consolas Bold"/>
                <a:ea typeface="Consolas Bold"/>
                <a:cs typeface="Consolas Bold"/>
                <a:sym typeface="Consolas Bold"/>
              </a:rPr>
              <a:t>SignIn()</a:t>
            </a: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):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system checks the role integer inside the authenticated user object.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role == 0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➔ Regular User.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role == 1</a:t>
            </a:r>
            <a:r>
              <a:rPr lang="en-US" sz="20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➔ Dynamic Admin.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06846" y="2462113"/>
            <a:ext cx="9200794" cy="6447542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82482" y="2133471"/>
            <a:ext cx="858095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Admins can do?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4200" y="3378101"/>
            <a:ext cx="9257518" cy="579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3131"/>
                </a:solidFill>
                <a:latin typeface="Consolas Bold"/>
                <a:ea typeface="Consolas Bold"/>
                <a:cs typeface="Consolas Bold"/>
                <a:sym typeface="Consolas Bold"/>
              </a:rPr>
              <a:t>Super Admin: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System Recovery: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Can log into the system even if the binary database file (users.dat) is corrupted or completely deleted.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A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dmin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Mana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g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e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m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ent: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H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 exclus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ve access to create, view (viewAdmins), and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pletely revoke (delete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credentials of lower-tier dynamic administrators.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5E17EB"/>
                </a:solidFill>
                <a:latin typeface="Consolas Bold"/>
                <a:ea typeface="Consolas Bold"/>
                <a:cs typeface="Consolas Bold"/>
                <a:sym typeface="Consolas Bold"/>
              </a:rPr>
              <a:t>Dynamic Admins (Staff Level - Role: 1):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User Directory Oversight (AllUsers()):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Can open the binary file stream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load a co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plete, real-time l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ist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of all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regi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er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investors on the platform.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Account Enforcements (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d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e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le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teUser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()</a:t>
            </a: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):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Authorized to completely purge/delete user accounts from the binary registry in case of transaction violations.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DE5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06846" y="2462113"/>
            <a:ext cx="9200794" cy="6447542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231272" y="2133471"/>
            <a:ext cx="508337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File Handling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3562288"/>
            <a:ext cx="9257518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BF63"/>
                </a:solidFill>
                <a:latin typeface="Consolas Bold"/>
                <a:ea typeface="Consolas Bold"/>
                <a:cs typeface="Consolas Bold"/>
                <a:sym typeface="Consolas Bold"/>
              </a:rPr>
              <a:t>B</a:t>
            </a:r>
            <a:r>
              <a:rPr lang="en-US" b="true" sz="2399">
                <a:solidFill>
                  <a:srgbClr val="00BF63"/>
                </a:solidFill>
                <a:latin typeface="Consolas Bold"/>
                <a:ea typeface="Consolas Bold"/>
                <a:cs typeface="Consolas Bold"/>
                <a:sym typeface="Consolas Bold"/>
              </a:rPr>
              <a:t>ina</a:t>
            </a:r>
            <a:r>
              <a:rPr lang="en-US" b="true" sz="2399">
                <a:solidFill>
                  <a:srgbClr val="00BF63"/>
                </a:solidFill>
                <a:latin typeface="Consolas Bold"/>
                <a:ea typeface="Consolas Bold"/>
                <a:cs typeface="Consolas Bold"/>
                <a:sym typeface="Consolas Bold"/>
              </a:rPr>
              <a:t>ry Storage (.dat)</a:t>
            </a: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— Users &amp; A</a:t>
            </a: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dmins: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ncrypts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h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 credentials from human readability.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revents unauthorized password 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modifications via simple t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ext editors.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Stream Mode: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true" sz="2100">
                <a:solidFill>
                  <a:srgbClr val="FF3131"/>
                </a:solidFill>
                <a:latin typeface="Consolas Bold"/>
                <a:ea typeface="Consolas Bold"/>
                <a:cs typeface="Consolas Bold"/>
                <a:sym typeface="Consolas Bold"/>
              </a:rPr>
              <a:t>ios::binary | ios::in | ios::out.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FF751F"/>
                </a:solidFill>
                <a:latin typeface="Consolas Bold"/>
                <a:ea typeface="Consolas Bold"/>
                <a:cs typeface="Consolas Bold"/>
                <a:sym typeface="Consolas Bold"/>
              </a:rPr>
              <a:t>Text Storage (.txt)</a:t>
            </a:r>
            <a:r>
              <a:rPr lang="en-US" b="true" sz="2399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— Cards &amp; Transaction History: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Easy</a:t>
            </a: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to read, parse, and append dynamic financial entries.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Lists of bank cards and transaction logs (expense/income history).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Stream Mode: </a:t>
            </a:r>
            <a:r>
              <a:rPr lang="en-US" b="true" sz="2100">
                <a:solidFill>
                  <a:srgbClr val="FF3131"/>
                </a:solidFill>
                <a:latin typeface="Consolas Bold"/>
                <a:ea typeface="Consolas Bold"/>
                <a:cs typeface="Consolas Bold"/>
                <a:sym typeface="Consolas Bold"/>
              </a:rPr>
              <a:t>ios::out | ios::app (Append mode for history).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DE5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graphicFrame>
        <p:nvGraphicFramePr>
          <p:cNvPr name="Object 26" id="26"/>
          <p:cNvGraphicFramePr/>
          <p:nvPr/>
        </p:nvGraphicFramePr>
        <p:xfrm>
          <a:off x="1681822" y="3137161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7" id="27"/>
          <p:cNvSpPr txBox="true"/>
          <p:nvPr/>
        </p:nvSpPr>
        <p:spPr>
          <a:xfrm rot="0">
            <a:off x="6406152" y="1793780"/>
            <a:ext cx="508337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File Handling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863876" y="1672629"/>
            <a:ext cx="816792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Regular User Journal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22648" y="3374930"/>
            <a:ext cx="10264013" cy="2938325"/>
          </a:xfrm>
          <a:custGeom>
            <a:avLst/>
            <a:gdLst/>
            <a:ahLst/>
            <a:cxnLst/>
            <a:rect r="r" b="b" t="t" l="l"/>
            <a:pathLst>
              <a:path h="2938325" w="10264013">
                <a:moveTo>
                  <a:pt x="0" y="0"/>
                </a:moveTo>
                <a:lnTo>
                  <a:pt x="10264012" y="0"/>
                </a:lnTo>
                <a:lnTo>
                  <a:pt x="10264012" y="2938325"/>
                </a:lnTo>
                <a:lnTo>
                  <a:pt x="0" y="2938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22648" y="6703780"/>
            <a:ext cx="10272111" cy="3270223"/>
          </a:xfrm>
          <a:custGeom>
            <a:avLst/>
            <a:gdLst/>
            <a:ahLst/>
            <a:cxnLst/>
            <a:rect r="r" b="b" t="t" l="l"/>
            <a:pathLst>
              <a:path h="3270223" w="10272111">
                <a:moveTo>
                  <a:pt x="0" y="0"/>
                </a:moveTo>
                <a:lnTo>
                  <a:pt x="10272111" y="0"/>
                </a:lnTo>
                <a:lnTo>
                  <a:pt x="10272111" y="3270223"/>
                </a:lnTo>
                <a:lnTo>
                  <a:pt x="0" y="3270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048986" y="3674579"/>
            <a:ext cx="6953877" cy="54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Registration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Onboarding &amp; Session Verification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Trigger Functions: </a:t>
            </a:r>
            <a:r>
              <a:rPr lang="en-US" b="true" sz="20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SignUp() ➔ SignIn()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Actions: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registers a unique email, name, and secure password.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checks the database. If credentials match a profile with role == 0, it restricts access to investor views and denies entry to the admin panels.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AppController sets currentUser = dynamicUserAddress in RAM to initialize the active session.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357974" y="3327764"/>
            <a:ext cx="6030718" cy="3002473"/>
          </a:xfrm>
          <a:custGeom>
            <a:avLst/>
            <a:gdLst/>
            <a:ahLst/>
            <a:cxnLst/>
            <a:rect r="r" b="b" t="t" l="l"/>
            <a:pathLst>
              <a:path h="3002473" w="6030718">
                <a:moveTo>
                  <a:pt x="0" y="0"/>
                </a:moveTo>
                <a:lnTo>
                  <a:pt x="6030718" y="0"/>
                </a:lnTo>
                <a:lnTo>
                  <a:pt x="6030718" y="3002473"/>
                </a:lnTo>
                <a:lnTo>
                  <a:pt x="0" y="300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341573" y="5596086"/>
            <a:ext cx="7278525" cy="4075974"/>
          </a:xfrm>
          <a:custGeom>
            <a:avLst/>
            <a:gdLst/>
            <a:ahLst/>
            <a:cxnLst/>
            <a:rect r="r" b="b" t="t" l="l"/>
            <a:pathLst>
              <a:path h="4075974" w="7278525">
                <a:moveTo>
                  <a:pt x="0" y="0"/>
                </a:moveTo>
                <a:lnTo>
                  <a:pt x="7278525" y="0"/>
                </a:lnTo>
                <a:lnTo>
                  <a:pt x="7278525" y="4075974"/>
                </a:lnTo>
                <a:lnTo>
                  <a:pt x="0" y="4075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490619" y="4014783"/>
            <a:ext cx="7104124" cy="349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New Transaction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Financial Activity (Polymorphic Transactions)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Trigger Functions:</a:t>
            </a:r>
            <a:r>
              <a:rPr lang="en-US" b="true" sz="2099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 handleTransaction()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Actions: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Income Track: The user logs positive cash flows (e.g., Salary). The program updates the specific card balance and instantiates a new heap-allocated Income object.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63876" y="1672629"/>
            <a:ext cx="816792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Regular User Journal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748847" y="3568104"/>
            <a:ext cx="5788713" cy="2876600"/>
          </a:xfrm>
          <a:custGeom>
            <a:avLst/>
            <a:gdLst/>
            <a:ahLst/>
            <a:cxnLst/>
            <a:rect r="r" b="b" t="t" l="l"/>
            <a:pathLst>
              <a:path h="2876600" w="5788713">
                <a:moveTo>
                  <a:pt x="0" y="0"/>
                </a:moveTo>
                <a:lnTo>
                  <a:pt x="5788712" y="0"/>
                </a:lnTo>
                <a:lnTo>
                  <a:pt x="5788712" y="2876600"/>
                </a:lnTo>
                <a:lnTo>
                  <a:pt x="0" y="2876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350184" y="5792855"/>
            <a:ext cx="7641270" cy="3833413"/>
          </a:xfrm>
          <a:custGeom>
            <a:avLst/>
            <a:gdLst/>
            <a:ahLst/>
            <a:cxnLst/>
            <a:rect r="r" b="b" t="t" l="l"/>
            <a:pathLst>
              <a:path h="3833413" w="7641270">
                <a:moveTo>
                  <a:pt x="0" y="0"/>
                </a:moveTo>
                <a:lnTo>
                  <a:pt x="7641269" y="0"/>
                </a:lnTo>
                <a:lnTo>
                  <a:pt x="7641269" y="3833413"/>
                </a:lnTo>
                <a:lnTo>
                  <a:pt x="0" y="3833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197226" y="3886513"/>
            <a:ext cx="7227108" cy="349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View Cards: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Trigger Functions:</a:t>
            </a:r>
            <a:r>
              <a:rPr lang="en-US" sz="2099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0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loadCards() ➔ addCard()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Actions: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searches </a:t>
            </a:r>
            <a:r>
              <a:rPr lang="en-US" b="true" sz="209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cards.txt</a:t>
            </a:r>
            <a:r>
              <a:rPr lang="en-US" sz="2099">
                <a:solidFill>
                  <a:srgbClr val="5E17E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by the user's email and loads any existing bank cards into a dynamic runtime array</a:t>
            </a: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09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(vector&lt;Card&gt; userCards)</a:t>
            </a:r>
            <a:r>
              <a:rPr lang="en-US" sz="2099">
                <a:solidFill>
                  <a:srgbClr val="1800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user can execute the Add Card function to bind a new card </a:t>
            </a: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(Master Card)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 an initial baseline balance.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63876" y="1672629"/>
            <a:ext cx="816792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Regular User Journal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33130" y="3052062"/>
            <a:ext cx="7823841" cy="4182876"/>
          </a:xfrm>
          <a:custGeom>
            <a:avLst/>
            <a:gdLst/>
            <a:ahLst/>
            <a:cxnLst/>
            <a:rect r="r" b="b" t="t" l="l"/>
            <a:pathLst>
              <a:path h="4182876" w="7823841">
                <a:moveTo>
                  <a:pt x="0" y="0"/>
                </a:moveTo>
                <a:lnTo>
                  <a:pt x="7823841" y="0"/>
                </a:lnTo>
                <a:lnTo>
                  <a:pt x="7823841" y="4182876"/>
                </a:lnTo>
                <a:lnTo>
                  <a:pt x="0" y="4182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3130" y="7649047"/>
            <a:ext cx="7810870" cy="1446080"/>
          </a:xfrm>
          <a:custGeom>
            <a:avLst/>
            <a:gdLst/>
            <a:ahLst/>
            <a:cxnLst/>
            <a:rect r="r" b="b" t="t" l="l"/>
            <a:pathLst>
              <a:path h="1446080" w="7810870">
                <a:moveTo>
                  <a:pt x="0" y="0"/>
                </a:moveTo>
                <a:lnTo>
                  <a:pt x="7810870" y="0"/>
                </a:lnTo>
                <a:lnTo>
                  <a:pt x="7810870" y="1446081"/>
                </a:lnTo>
                <a:lnTo>
                  <a:pt x="0" y="1446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380596" y="3538855"/>
            <a:ext cx="7227108" cy="497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View History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  <a:p>
            <a:pPr algn="l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 Functions: </a:t>
            </a:r>
            <a:r>
              <a:rPr lang="en-US" b="true" sz="2099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loadHistory() ➔ viewHistory() </a:t>
            </a:r>
          </a:p>
          <a:p>
            <a:pPr algn="l">
              <a:lnSpc>
                <a:spcPts val="2939"/>
              </a:lnSpc>
            </a:pPr>
            <a:r>
              <a:rPr lang="en-US" b="true" sz="2099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/ print()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Actions: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When opening the history module, the parser reads all entries from transactions.txt that match the active session email.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pushes them into a polymorphic runtime ledger array </a:t>
            </a:r>
            <a:r>
              <a:rPr lang="en-US" b="true" sz="2099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(vector&lt;Transaction*&gt; history).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interface loops through the vector, executing </a:t>
            </a:r>
            <a:r>
              <a:rPr lang="en-US" b="true" sz="20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t-&gt;printInfo().</a:t>
            </a:r>
          </a:p>
          <a:p>
            <a:pPr algn="l">
              <a:lnSpc>
                <a:spcPts val="293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4863876" y="1672629"/>
            <a:ext cx="816792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Regular User Journal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41679" y="3568104"/>
            <a:ext cx="8306159" cy="2240583"/>
          </a:xfrm>
          <a:custGeom>
            <a:avLst/>
            <a:gdLst/>
            <a:ahLst/>
            <a:cxnLst/>
            <a:rect r="r" b="b" t="t" l="l"/>
            <a:pathLst>
              <a:path h="2240583" w="8306159">
                <a:moveTo>
                  <a:pt x="0" y="0"/>
                </a:moveTo>
                <a:lnTo>
                  <a:pt x="8306160" y="0"/>
                </a:lnTo>
                <a:lnTo>
                  <a:pt x="8306160" y="2240583"/>
                </a:lnTo>
                <a:lnTo>
                  <a:pt x="0" y="2240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41679" y="6229050"/>
            <a:ext cx="6335946" cy="3321883"/>
          </a:xfrm>
          <a:custGeom>
            <a:avLst/>
            <a:gdLst/>
            <a:ahLst/>
            <a:cxnLst/>
            <a:rect r="r" b="b" t="t" l="l"/>
            <a:pathLst>
              <a:path h="3321883" w="6335946">
                <a:moveTo>
                  <a:pt x="0" y="0"/>
                </a:moveTo>
                <a:lnTo>
                  <a:pt x="6335947" y="0"/>
                </a:lnTo>
                <a:lnTo>
                  <a:pt x="6335947" y="3321882"/>
                </a:lnTo>
                <a:lnTo>
                  <a:pt x="0" y="3321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044202" y="1672629"/>
            <a:ext cx="580727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Admin Journal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80596" y="3538855"/>
            <a:ext cx="7227108" cy="423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Register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Trigger Functions: </a:t>
            </a:r>
            <a:r>
              <a:rPr lang="en-US" b="true" sz="20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SignIn() ➔ AdminPanel()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Actions: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user inputs their login credentials. The system evaluates them first against the hardcoded Super Admin data, then against the </a:t>
            </a:r>
            <a:r>
              <a:rPr lang="en-US" b="true" sz="2099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admins.dat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registry.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role == 1 or the hardcoded match is triggered, AppController intercepts the active session, blocks regular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investor views, and routes execution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directly to the secure Admin Panel interface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AutoShape 33" id="33"/>
          <p:cNvSpPr/>
          <p:nvPr/>
        </p:nvSpPr>
        <p:spPr>
          <a:xfrm flipH="true">
            <a:off x="3270613" y="8755899"/>
            <a:ext cx="6492240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4" id="34"/>
          <p:cNvSpPr txBox="true"/>
          <p:nvPr/>
        </p:nvSpPr>
        <p:spPr>
          <a:xfrm rot="0">
            <a:off x="9833326" y="8539682"/>
            <a:ext cx="278225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Admin Panel Access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268117" y="3044229"/>
            <a:ext cx="7425306" cy="2517532"/>
          </a:xfrm>
          <a:custGeom>
            <a:avLst/>
            <a:gdLst/>
            <a:ahLst/>
            <a:cxnLst/>
            <a:rect r="r" b="b" t="t" l="l"/>
            <a:pathLst>
              <a:path h="2517532" w="7425306">
                <a:moveTo>
                  <a:pt x="0" y="0"/>
                </a:moveTo>
                <a:lnTo>
                  <a:pt x="7425307" y="0"/>
                </a:lnTo>
                <a:lnTo>
                  <a:pt x="7425307" y="2517533"/>
                </a:lnTo>
                <a:lnTo>
                  <a:pt x="0" y="2517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68117" y="5998066"/>
            <a:ext cx="7448984" cy="3126580"/>
          </a:xfrm>
          <a:custGeom>
            <a:avLst/>
            <a:gdLst/>
            <a:ahLst/>
            <a:cxnLst/>
            <a:rect r="r" b="b" t="t" l="l"/>
            <a:pathLst>
              <a:path h="3126580" w="7448984">
                <a:moveTo>
                  <a:pt x="0" y="0"/>
                </a:moveTo>
                <a:lnTo>
                  <a:pt x="7448984" y="0"/>
                </a:lnTo>
                <a:lnTo>
                  <a:pt x="7448984" y="3126580"/>
                </a:lnTo>
                <a:lnTo>
                  <a:pt x="0" y="3126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044202" y="1672629"/>
            <a:ext cx="580727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Admin Journal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80596" y="3538855"/>
            <a:ext cx="7227108" cy="386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View all users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Trigger Functions: </a:t>
            </a:r>
            <a:r>
              <a:rPr lang="en-US" b="true" sz="209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AllUsers()</a:t>
            </a:r>
          </a:p>
          <a:p>
            <a:pPr algn="l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Actions: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administrator requests a global database audit log.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program opens a binary input stre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(ios::</a:t>
            </a: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</a:t>
            </a: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| ios::binary)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en-US" b="true" sz="20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users.dat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reads the userBinary struct blocks sequ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entially, and outputs a clean, real-time textual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directory of all registered standard investors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60761" y="3695830"/>
            <a:ext cx="8727283" cy="3705095"/>
          </a:xfrm>
          <a:custGeom>
            <a:avLst/>
            <a:gdLst/>
            <a:ahLst/>
            <a:cxnLst/>
            <a:rect r="r" b="b" t="t" l="l"/>
            <a:pathLst>
              <a:path h="3705095" w="8727283">
                <a:moveTo>
                  <a:pt x="0" y="0"/>
                </a:moveTo>
                <a:lnTo>
                  <a:pt x="8727283" y="0"/>
                </a:lnTo>
                <a:lnTo>
                  <a:pt x="8727283" y="3705095"/>
                </a:lnTo>
                <a:lnTo>
                  <a:pt x="0" y="3705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044202" y="1672629"/>
            <a:ext cx="580727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Admin Journal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80596" y="3538855"/>
            <a:ext cx="7227108" cy="460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Delete User: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rigger Functions: </a:t>
            </a:r>
            <a:r>
              <a:rPr lang="en-US" b="true" sz="2099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deleteUser() ➔ deleteCards()</a:t>
            </a:r>
          </a:p>
          <a:p>
            <a:pPr algn="l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Actions: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case of protocol violations, an admin can completely purge an investor's account.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program locates and removes the target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from </a:t>
            </a:r>
            <a:r>
              <a:rPr lang="en-US" b="true" sz="20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users.dat.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Cascade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Cleanup: To ensure database integrity and avoid ghost records, the fu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nction automatically fires</a:t>
            </a: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deleteCards(),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which instantly sweeps </a:t>
            </a:r>
            <a:r>
              <a:rPr lang="en-US" b="true" sz="2099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cards.txt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wipe all dynamic banking card assets bound to that specific user's email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457002" y="3059426"/>
            <a:ext cx="6447223" cy="2084074"/>
          </a:xfrm>
          <a:custGeom>
            <a:avLst/>
            <a:gdLst/>
            <a:ahLst/>
            <a:cxnLst/>
            <a:rect r="r" b="b" t="t" l="l"/>
            <a:pathLst>
              <a:path h="2084074" w="6447223">
                <a:moveTo>
                  <a:pt x="0" y="0"/>
                </a:moveTo>
                <a:lnTo>
                  <a:pt x="6447222" y="0"/>
                </a:lnTo>
                <a:lnTo>
                  <a:pt x="6447222" y="2084074"/>
                </a:lnTo>
                <a:lnTo>
                  <a:pt x="0" y="2084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28700" y="5272855"/>
            <a:ext cx="7858760" cy="4246488"/>
          </a:xfrm>
          <a:custGeom>
            <a:avLst/>
            <a:gdLst/>
            <a:ahLst/>
            <a:cxnLst/>
            <a:rect r="r" b="b" t="t" l="l"/>
            <a:pathLst>
              <a:path h="4246488" w="7858760">
                <a:moveTo>
                  <a:pt x="0" y="0"/>
                </a:moveTo>
                <a:lnTo>
                  <a:pt x="7858760" y="0"/>
                </a:lnTo>
                <a:lnTo>
                  <a:pt x="7858760" y="4246487"/>
                </a:lnTo>
                <a:lnTo>
                  <a:pt x="0" y="42464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044202" y="1672629"/>
            <a:ext cx="580727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Admin Journal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91453" y="3080428"/>
            <a:ext cx="7227108" cy="386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Admins: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Trigger Functions: </a:t>
            </a:r>
            <a:r>
              <a:rPr lang="en-US" b="true" sz="2099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Admins()</a:t>
            </a:r>
          </a:p>
          <a:p>
            <a:pPr algn="l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Actions: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code-hardened Super Admin accesses the dynamic staff registry from </a:t>
            </a:r>
            <a:r>
              <a:rPr lang="en-US" b="true" sz="2099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admins.dat.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b="true" sz="20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Super Admin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can select a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rd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inv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from </a:t>
            </a:r>
            <a:r>
              <a:rPr lang="en-US" b="true" sz="209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users.dat,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change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their status to role = 1, and mirror the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 byte block configur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 dire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ct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ly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into the admins.dat binary sequence to grant full staff clearance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35568" y="8511540"/>
            <a:ext cx="817024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Only Super Admin (admin@gmail.com) is able to use third option from menu (3. Manage System Administartors)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9266" y="868193"/>
            <a:ext cx="1471570" cy="711860"/>
            <a:chOff x="0" y="0"/>
            <a:chExt cx="387574" cy="187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74" cy="187486"/>
            </a:xfrm>
            <a:custGeom>
              <a:avLst/>
              <a:gdLst/>
              <a:ahLst/>
              <a:cxnLst/>
              <a:rect r="r" b="b" t="t" l="l"/>
              <a:pathLst>
                <a:path h="187486" w="387574">
                  <a:moveTo>
                    <a:pt x="93743" y="0"/>
                  </a:moveTo>
                  <a:lnTo>
                    <a:pt x="293831" y="0"/>
                  </a:lnTo>
                  <a:cubicBezTo>
                    <a:pt x="318693" y="0"/>
                    <a:pt x="342537" y="9876"/>
                    <a:pt x="360117" y="27457"/>
                  </a:cubicBezTo>
                  <a:cubicBezTo>
                    <a:pt x="377698" y="45037"/>
                    <a:pt x="387574" y="68881"/>
                    <a:pt x="387574" y="93743"/>
                  </a:cubicBezTo>
                  <a:lnTo>
                    <a:pt x="387574" y="93743"/>
                  </a:lnTo>
                  <a:cubicBezTo>
                    <a:pt x="387574" y="145516"/>
                    <a:pt x="345604" y="187486"/>
                    <a:pt x="29383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757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9435" y="868193"/>
            <a:ext cx="1694789" cy="711860"/>
            <a:chOff x="0" y="0"/>
            <a:chExt cx="446364" cy="187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364" cy="187486"/>
            </a:xfrm>
            <a:custGeom>
              <a:avLst/>
              <a:gdLst/>
              <a:ahLst/>
              <a:cxnLst/>
              <a:rect r="r" b="b" t="t" l="l"/>
              <a:pathLst>
                <a:path h="187486" w="446364">
                  <a:moveTo>
                    <a:pt x="93743" y="0"/>
                  </a:moveTo>
                  <a:lnTo>
                    <a:pt x="352621" y="0"/>
                  </a:lnTo>
                  <a:cubicBezTo>
                    <a:pt x="404394" y="0"/>
                    <a:pt x="446364" y="41970"/>
                    <a:pt x="446364" y="93743"/>
                  </a:cubicBezTo>
                  <a:lnTo>
                    <a:pt x="446364" y="93743"/>
                  </a:lnTo>
                  <a:cubicBezTo>
                    <a:pt x="446364" y="118605"/>
                    <a:pt x="436488" y="142449"/>
                    <a:pt x="418907" y="160029"/>
                  </a:cubicBezTo>
                  <a:cubicBezTo>
                    <a:pt x="401327" y="177609"/>
                    <a:pt x="377483" y="187486"/>
                    <a:pt x="35262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36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2824" y="868193"/>
            <a:ext cx="1630029" cy="711860"/>
            <a:chOff x="0" y="0"/>
            <a:chExt cx="429308" cy="187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308" cy="187486"/>
            </a:xfrm>
            <a:custGeom>
              <a:avLst/>
              <a:gdLst/>
              <a:ahLst/>
              <a:cxnLst/>
              <a:rect r="r" b="b" t="t" l="l"/>
              <a:pathLst>
                <a:path h="187486" w="429308">
                  <a:moveTo>
                    <a:pt x="93743" y="0"/>
                  </a:moveTo>
                  <a:lnTo>
                    <a:pt x="335565" y="0"/>
                  </a:lnTo>
                  <a:cubicBezTo>
                    <a:pt x="360427" y="0"/>
                    <a:pt x="384271" y="9876"/>
                    <a:pt x="401851" y="27457"/>
                  </a:cubicBezTo>
                  <a:cubicBezTo>
                    <a:pt x="419432" y="45037"/>
                    <a:pt x="429308" y="68881"/>
                    <a:pt x="429308" y="93743"/>
                  </a:cubicBezTo>
                  <a:lnTo>
                    <a:pt x="429308" y="93743"/>
                  </a:lnTo>
                  <a:cubicBezTo>
                    <a:pt x="429308" y="145516"/>
                    <a:pt x="387338" y="187486"/>
                    <a:pt x="335565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00BF63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9308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1453" y="868193"/>
            <a:ext cx="1590414" cy="711860"/>
            <a:chOff x="0" y="0"/>
            <a:chExt cx="418875" cy="187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75" cy="187486"/>
            </a:xfrm>
            <a:custGeom>
              <a:avLst/>
              <a:gdLst/>
              <a:ahLst/>
              <a:cxnLst/>
              <a:rect r="r" b="b" t="t" l="l"/>
              <a:pathLst>
                <a:path h="187486" w="418875">
                  <a:moveTo>
                    <a:pt x="93743" y="0"/>
                  </a:moveTo>
                  <a:lnTo>
                    <a:pt x="325132" y="0"/>
                  </a:lnTo>
                  <a:cubicBezTo>
                    <a:pt x="349994" y="0"/>
                    <a:pt x="373838" y="9876"/>
                    <a:pt x="391418" y="27457"/>
                  </a:cubicBezTo>
                  <a:cubicBezTo>
                    <a:pt x="408998" y="45037"/>
                    <a:pt x="418875" y="68881"/>
                    <a:pt x="418875" y="93743"/>
                  </a:cubicBezTo>
                  <a:lnTo>
                    <a:pt x="418875" y="93743"/>
                  </a:lnTo>
                  <a:cubicBezTo>
                    <a:pt x="418875" y="145516"/>
                    <a:pt x="376904" y="187486"/>
                    <a:pt x="325132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18875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0468" y="868193"/>
            <a:ext cx="1610222" cy="711860"/>
            <a:chOff x="0" y="0"/>
            <a:chExt cx="424091" cy="187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091" cy="187486"/>
            </a:xfrm>
            <a:custGeom>
              <a:avLst/>
              <a:gdLst/>
              <a:ahLst/>
              <a:cxnLst/>
              <a:rect r="r" b="b" t="t" l="l"/>
              <a:pathLst>
                <a:path h="187486" w="424091">
                  <a:moveTo>
                    <a:pt x="93743" y="0"/>
                  </a:moveTo>
                  <a:lnTo>
                    <a:pt x="330348" y="0"/>
                  </a:lnTo>
                  <a:cubicBezTo>
                    <a:pt x="382121" y="0"/>
                    <a:pt x="424091" y="41970"/>
                    <a:pt x="424091" y="93743"/>
                  </a:cubicBezTo>
                  <a:lnTo>
                    <a:pt x="424091" y="93743"/>
                  </a:lnTo>
                  <a:cubicBezTo>
                    <a:pt x="424091" y="118605"/>
                    <a:pt x="414215" y="142449"/>
                    <a:pt x="396635" y="160029"/>
                  </a:cubicBezTo>
                  <a:cubicBezTo>
                    <a:pt x="379054" y="177609"/>
                    <a:pt x="355211" y="187486"/>
                    <a:pt x="330348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DE59"/>
            </a:solidFill>
            <a:ln w="57150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091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406" y="868193"/>
            <a:ext cx="1513673" cy="711860"/>
            <a:chOff x="0" y="0"/>
            <a:chExt cx="398663" cy="187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8663" cy="187486"/>
            </a:xfrm>
            <a:custGeom>
              <a:avLst/>
              <a:gdLst/>
              <a:ahLst/>
              <a:cxnLst/>
              <a:rect r="r" b="b" t="t" l="l"/>
              <a:pathLst>
                <a:path h="187486" w="398663">
                  <a:moveTo>
                    <a:pt x="93743" y="0"/>
                  </a:moveTo>
                  <a:lnTo>
                    <a:pt x="304920" y="0"/>
                  </a:lnTo>
                  <a:cubicBezTo>
                    <a:pt x="356693" y="0"/>
                    <a:pt x="398663" y="41970"/>
                    <a:pt x="398663" y="93743"/>
                  </a:cubicBezTo>
                  <a:lnTo>
                    <a:pt x="398663" y="93743"/>
                  </a:lnTo>
                  <a:cubicBezTo>
                    <a:pt x="398663" y="118605"/>
                    <a:pt x="388786" y="142449"/>
                    <a:pt x="371206" y="160029"/>
                  </a:cubicBezTo>
                  <a:cubicBezTo>
                    <a:pt x="353626" y="177609"/>
                    <a:pt x="329782" y="187486"/>
                    <a:pt x="304920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F3131"/>
            </a:solidFill>
            <a:ln w="5715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98663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Journay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92679" y="868193"/>
            <a:ext cx="1866621" cy="711860"/>
            <a:chOff x="0" y="0"/>
            <a:chExt cx="491620" cy="187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620" cy="187486"/>
            </a:xfrm>
            <a:custGeom>
              <a:avLst/>
              <a:gdLst/>
              <a:ahLst/>
              <a:cxnLst/>
              <a:rect r="r" b="b" t="t" l="l"/>
              <a:pathLst>
                <a:path h="187486" w="491620">
                  <a:moveTo>
                    <a:pt x="93743" y="0"/>
                  </a:moveTo>
                  <a:lnTo>
                    <a:pt x="397877" y="0"/>
                  </a:lnTo>
                  <a:cubicBezTo>
                    <a:pt x="449650" y="0"/>
                    <a:pt x="491620" y="41970"/>
                    <a:pt x="491620" y="93743"/>
                  </a:cubicBezTo>
                  <a:lnTo>
                    <a:pt x="491620" y="93743"/>
                  </a:lnTo>
                  <a:cubicBezTo>
                    <a:pt x="491620" y="118605"/>
                    <a:pt x="481744" y="142449"/>
                    <a:pt x="464164" y="160029"/>
                  </a:cubicBezTo>
                  <a:cubicBezTo>
                    <a:pt x="446583" y="177609"/>
                    <a:pt x="422740" y="187486"/>
                    <a:pt x="397877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FEFFFF"/>
            </a:solidFill>
            <a:ln w="571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91620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BF6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0761" y="684224"/>
            <a:ext cx="367939" cy="367939"/>
            <a:chOff x="0" y="0"/>
            <a:chExt cx="490586" cy="490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200" y="203200"/>
              <a:ext cx="287386" cy="287386"/>
            </a:xfrm>
            <a:custGeom>
              <a:avLst/>
              <a:gdLst/>
              <a:ahLst/>
              <a:cxnLst/>
              <a:rect r="r" b="b" t="t" l="l"/>
              <a:pathLst>
                <a:path h="287386" w="287386">
                  <a:moveTo>
                    <a:pt x="0" y="0"/>
                  </a:moveTo>
                  <a:lnTo>
                    <a:pt x="287386" y="0"/>
                  </a:lnTo>
                  <a:lnTo>
                    <a:pt x="287386" y="287386"/>
                  </a:lnTo>
                  <a:lnTo>
                    <a:pt x="0" y="28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8117" y="868193"/>
            <a:ext cx="2866997" cy="711860"/>
            <a:chOff x="0" y="0"/>
            <a:chExt cx="755094" cy="187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094" cy="187486"/>
            </a:xfrm>
            <a:custGeom>
              <a:avLst/>
              <a:gdLst/>
              <a:ahLst/>
              <a:cxnLst/>
              <a:rect r="r" b="b" t="t" l="l"/>
              <a:pathLst>
                <a:path h="187486" w="755094">
                  <a:moveTo>
                    <a:pt x="93743" y="0"/>
                  </a:moveTo>
                  <a:lnTo>
                    <a:pt x="661351" y="0"/>
                  </a:lnTo>
                  <a:cubicBezTo>
                    <a:pt x="713124" y="0"/>
                    <a:pt x="755094" y="41970"/>
                    <a:pt x="755094" y="93743"/>
                  </a:cubicBezTo>
                  <a:lnTo>
                    <a:pt x="755094" y="93743"/>
                  </a:lnTo>
                  <a:cubicBezTo>
                    <a:pt x="755094" y="118605"/>
                    <a:pt x="745218" y="142449"/>
                    <a:pt x="727637" y="160029"/>
                  </a:cubicBezTo>
                  <a:cubicBezTo>
                    <a:pt x="710057" y="177609"/>
                    <a:pt x="686213" y="187486"/>
                    <a:pt x="661351" y="187486"/>
                  </a:cubicBezTo>
                  <a:lnTo>
                    <a:pt x="93743" y="187486"/>
                  </a:lnTo>
                  <a:cubicBezTo>
                    <a:pt x="41970" y="187486"/>
                    <a:pt x="0" y="145516"/>
                    <a:pt x="0" y="93743"/>
                  </a:cubicBezTo>
                  <a:lnTo>
                    <a:pt x="0" y="93743"/>
                  </a:lnTo>
                  <a:cubicBezTo>
                    <a:pt x="0" y="41970"/>
                    <a:pt x="41970" y="0"/>
                    <a:pt x="93743" y="0"/>
                  </a:cubicBezTo>
                  <a:close/>
                </a:path>
              </a:pathLst>
            </a:custGeom>
            <a:solidFill>
              <a:srgbClr val="5E17EB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55094" cy="24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Finance app</a:t>
              </a:r>
            </a:p>
          </p:txBody>
        </p:sp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06846" y="2462113"/>
            <a:ext cx="9200794" cy="6447542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6733812" y="1672629"/>
            <a:ext cx="442805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4111176"/>
            <a:ext cx="9076845" cy="195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</a:pPr>
            <a:r>
              <a:rPr lang="en-US" b="true" sz="2714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cout &lt;&lt; </a:t>
            </a:r>
            <a:r>
              <a:rPr lang="en-US" b="true" sz="2714">
                <a:solidFill>
                  <a:srgbClr val="00BF63"/>
                </a:solidFill>
                <a:latin typeface="Consolas Bold"/>
                <a:ea typeface="Consolas Bold"/>
                <a:cs typeface="Consolas Bold"/>
                <a:sym typeface="Consolas Bold"/>
              </a:rPr>
              <a:t>“</a:t>
            </a:r>
            <a:r>
              <a:rPr lang="en-US" b="true" sz="2714">
                <a:solidFill>
                  <a:srgbClr val="00BF63"/>
                </a:solidFill>
                <a:latin typeface="Consolas Bold"/>
                <a:ea typeface="Consolas Bold"/>
                <a:cs typeface="Consolas Bold"/>
                <a:sym typeface="Consolas Bold"/>
              </a:rPr>
              <a:t>To finish, our app is fast, safe, and ready for future updates. We mixed smart file saving with clean code to make a reliable tool for investors”</a:t>
            </a:r>
            <a:r>
              <a:rPr lang="en-US" b="true" sz="2714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&lt;&lt; </a:t>
            </a:r>
            <a:r>
              <a:rPr lang="en-US" b="true" sz="2714">
                <a:solidFill>
                  <a:srgbClr val="FFDE59"/>
                </a:solidFill>
                <a:latin typeface="Consolas Bold"/>
                <a:ea typeface="Consolas Bold"/>
                <a:cs typeface="Consolas Bold"/>
                <a:sym typeface="Consolas Bold"/>
              </a:rPr>
              <a:t>endl</a:t>
            </a:r>
            <a:r>
              <a:rPr lang="en-US" b="true" sz="2714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;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DAHKZjgkQlk</dc:identifier>
  <dcterms:modified xsi:type="dcterms:W3CDTF">2011-08-01T06:04:30Z</dcterms:modified>
  <cp:revision>1</cp:revision>
  <dc:title>OOP_Presentation </dc:title>
</cp:coreProperties>
</file>